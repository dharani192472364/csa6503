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60" r:id="rId6"/>
    <p:sldId id="261" r:id="rId7"/>
    <p:sldId id="262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42" y="97104"/>
            <a:ext cx="4134357" cy="3331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2648" y="4492488"/>
            <a:ext cx="3349751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4373880" y="0"/>
            <a:ext cx="78181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5"/>
          </p:nvPr>
        </p:nvSpPr>
        <p:spPr>
          <a:xfrm>
            <a:off x="56644" y="6338703"/>
            <a:ext cx="219669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>
          <a:xfrm>
            <a:off x="2383669" y="6338703"/>
            <a:ext cx="1392578" cy="365125"/>
          </a:xfrm>
        </p:spPr>
        <p:txBody>
          <a:bodyPr/>
          <a:lstStyle/>
          <a:p>
            <a:fld id="{FBA5FDC8-2CCB-4EA1-8FD8-38F6AAE1A29B}" type="datetimeFigureOut">
              <a:rPr lang="en-IN" smtClean="0"/>
            </a:fld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6"/>
          </p:nvPr>
        </p:nvSpPr>
        <p:spPr>
          <a:xfrm>
            <a:off x="3776247" y="6342301"/>
            <a:ext cx="429207" cy="365125"/>
          </a:xfrm>
        </p:spPr>
        <p:txBody>
          <a:bodyPr/>
          <a:lstStyle/>
          <a:p>
            <a:fld id="{9BA851E9-A03F-48F9-B76A-EEAF29EDA3C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7" y="1709862"/>
            <a:ext cx="10963656" cy="451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5FDC8-2CCB-4EA1-8FD8-38F6AAE1A29B}" type="datetimeFigureOut">
              <a:rPr lang="en-IN" smtClean="0"/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51E9-A03F-48F9-B76A-EEAF29EDA3C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888410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88841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7424272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846388" y="6343955"/>
            <a:ext cx="210048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767853" y="6343955"/>
            <a:ext cx="14751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BA5FDC8-2CCB-4EA1-8FD8-38F6AAE1A29B}" type="datetimeFigureOut">
              <a:rPr lang="en-IN" smtClean="0"/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96066" y="6343955"/>
            <a:ext cx="429207" cy="365125"/>
          </a:xfrm>
        </p:spPr>
        <p:txBody>
          <a:bodyPr/>
          <a:lstStyle/>
          <a:p>
            <a:fld id="{9BA851E9-A03F-48F9-B76A-EEAF29EDA3C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2647" y="1143000"/>
            <a:ext cx="8683753" cy="309514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2647" y="4498848"/>
            <a:ext cx="6881457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221509" y="6343955"/>
            <a:ext cx="2875064" cy="365125"/>
          </a:xfrm>
        </p:spPr>
        <p:txBody>
          <a:bodyPr/>
          <a:lstStyle/>
          <a:p>
            <a:fld id="{FBA5FDC8-2CCB-4EA1-8FD8-38F6AAE1A29B}" type="datetimeFigureOut">
              <a:rPr lang="en-IN" smtClean="0"/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51E9-A03F-48F9-B76A-EEAF29EDA3C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11758" y="1869103"/>
            <a:ext cx="9337042" cy="4906929"/>
          </a:xfrm>
        </p:spPr>
        <p:txBody>
          <a:bodyPr>
            <a:normAutofit/>
          </a:bodyPr>
          <a:lstStyle>
            <a:lvl1pPr>
              <a:defRPr sz="7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FBA5FDC8-2CCB-4EA1-8FD8-38F6AAE1A29B}" type="datetimeFigureOut">
              <a:rPr lang="en-IN" smtClean="0"/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9BA851E9-A03F-48F9-B76A-EEAF29EDA3CF}" type="slidenum">
              <a:rPr lang="en-IN" smtClean="0"/>
            </a:fld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5111" y="105196"/>
            <a:ext cx="9023561" cy="2113392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61264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5FDC8-2CCB-4EA1-8FD8-38F6AAE1A29B}" type="datetimeFigureOut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51E9-A03F-48F9-B76A-EEAF29EDA3C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41011" y="73742"/>
            <a:ext cx="6863496" cy="2220726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4565591" cy="68580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588000" y="2726267"/>
            <a:ext cx="5916507" cy="343678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88000" y="6343955"/>
            <a:ext cx="29854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/>
          <a:lstStyle/>
          <a:p>
            <a:fld id="{FBA5FDC8-2CCB-4EA1-8FD8-38F6AAE1A29B}" type="datetimeFigureOut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9BA851E9-A03F-48F9-B76A-EEAF29EDA3C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678" y="1388700"/>
            <a:ext cx="3923455" cy="408358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5156011" y="1389134"/>
            <a:ext cx="6045390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5FDC8-2CCB-4EA1-8FD8-38F6AAE1A29B}" type="datetimeFigureOut">
              <a:rPr lang="en-IN" smtClean="0"/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51E9-A03F-48F9-B76A-EEAF29EDA3C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5FDC8-2CCB-4EA1-8FD8-38F6AAE1A29B}" type="datetimeFigureOut">
              <a:rPr lang="en-IN" smtClean="0"/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51E9-A03F-48F9-B76A-EEAF29EDA3C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6011" y="612648"/>
            <a:ext cx="6426389" cy="1143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5157368" y="1978488"/>
            <a:ext cx="6418935" cy="4285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>
          <a:xfrm>
            <a:off x="5156010" y="6343955"/>
            <a:ext cx="3364903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/>
          <a:lstStyle/>
          <a:p>
            <a:fld id="{FBA5FDC8-2CCB-4EA1-8FD8-38F6AAE1A29B}" type="datetimeFigureOut">
              <a:rPr lang="en-IN" smtClean="0"/>
            </a:fld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9BA851E9-A03F-48F9-B76A-EEAF29EDA3C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32168" y="474177"/>
            <a:ext cx="6950232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4632168" y="1627632"/>
            <a:ext cx="6950232" cy="4686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6"/>
          </p:nvPr>
        </p:nvSpPr>
        <p:spPr>
          <a:xfrm>
            <a:off x="4632168" y="6343955"/>
            <a:ext cx="342290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/>
          <a:lstStyle/>
          <a:p>
            <a:fld id="{FBA5FDC8-2CCB-4EA1-8FD8-38F6AAE1A29B}" type="datetimeFigureOut">
              <a:rPr lang="en-IN" smtClean="0"/>
            </a:fld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9BA851E9-A03F-48F9-B76A-EEAF29EDA3C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7" y="475488"/>
            <a:ext cx="6858000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612647" y="1627632"/>
            <a:ext cx="6858000" cy="4535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/>
          <a:lstStyle/>
          <a:p>
            <a:fld id="{FBA5FDC8-2CCB-4EA1-8FD8-38F6AAE1A29B}" type="datetimeFigureOut">
              <a:rPr lang="en-IN" smtClean="0"/>
            </a:fld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/>
          <a:lstStyle/>
          <a:p>
            <a:fld id="{9BA851E9-A03F-48F9-B76A-EEAF29EDA3CF}" type="slidenum">
              <a:rPr lang="en-IN" smtClean="0"/>
            </a:fld>
            <a:endParaRPr lang="en-IN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9" y="420623"/>
            <a:ext cx="4494189" cy="13258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612775" y="1975104"/>
            <a:ext cx="4494063" cy="4156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213651" y="6343955"/>
            <a:ext cx="1573037" cy="365125"/>
          </a:xfrm>
        </p:spPr>
        <p:txBody>
          <a:bodyPr/>
          <a:lstStyle/>
          <a:p>
            <a:fld id="{FBA5FDC8-2CCB-4EA1-8FD8-38F6AAE1A29B}" type="datetimeFigureOut">
              <a:rPr lang="en-IN" smtClean="0"/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796658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BA851E9-A03F-48F9-B76A-EEAF29EDA3CF}" type="slidenum">
              <a:rPr lang="en-IN" smtClean="0"/>
            </a:fld>
            <a:endParaRPr lang="en-IN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697" y="429768"/>
            <a:ext cx="3657600" cy="166722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615823" y="2315569"/>
            <a:ext cx="3657600" cy="3814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5"/>
          </p:nvPr>
        </p:nvSpPr>
        <p:spPr>
          <a:xfrm>
            <a:off x="2703447" y="6343955"/>
            <a:ext cx="949766" cy="365125"/>
          </a:xfrm>
        </p:spPr>
        <p:txBody>
          <a:bodyPr/>
          <a:lstStyle/>
          <a:p>
            <a:fld id="{FBA5FDC8-2CCB-4EA1-8FD8-38F6AAE1A29B}" type="datetimeFigureOut">
              <a:rPr lang="en-IN" smtClean="0"/>
            </a:fld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3653213" y="6343955"/>
            <a:ext cx="429207" cy="365125"/>
          </a:xfrm>
        </p:spPr>
        <p:txBody>
          <a:bodyPr/>
          <a:lstStyle/>
          <a:p>
            <a:fld id="{9BA851E9-A03F-48F9-B76A-EEAF29EDA3CF}" type="slidenum">
              <a:rPr lang="en-IN" smtClean="0"/>
            </a:fld>
            <a:endParaRPr lang="en-IN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4895088" y="0"/>
            <a:ext cx="729691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8061" y="929554"/>
            <a:ext cx="2699254" cy="185894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888061" y="6343955"/>
            <a:ext cx="140446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BA5FDC8-2CCB-4EA1-8FD8-38F6AAE1A29B}" type="datetimeFigureOut">
              <a:rPr lang="en-IN" smtClean="0"/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9BA851E9-A03F-48F9-B76A-EEAF29EDA3C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6" y="4162318"/>
            <a:ext cx="3044954" cy="1892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4122370" y="4162318"/>
            <a:ext cx="7460029" cy="20915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5FDC8-2CCB-4EA1-8FD8-38F6AAE1A29B}" type="datetimeFigureOut">
              <a:rPr lang="en-IN" smtClean="0"/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51E9-A03F-48F9-B76A-EEAF29EDA3C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612647" y="1912398"/>
            <a:ext cx="4637269" cy="420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8" hasCustomPrompt="1"/>
          </p:nvPr>
        </p:nvSpPr>
        <p:spPr>
          <a:xfrm>
            <a:off x="5737221" y="1912938"/>
            <a:ext cx="5741992" cy="422433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/>
          <a:lstStyle/>
          <a:p>
            <a:fld id="{FBA5FDC8-2CCB-4EA1-8FD8-38F6AAE1A29B}" type="datetimeFigureOut">
              <a:rPr lang="en-IN" smtClean="0"/>
            </a:fld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/>
          <a:lstStyle/>
          <a:p>
            <a:fld id="{9BA851E9-A03F-48F9-B76A-EEAF29EDA3C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706802"/>
            <a:ext cx="4672584" cy="12694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720468" y="2173850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5905563" y="732155"/>
            <a:ext cx="5676838" cy="5405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5FDC8-2CCB-4EA1-8FD8-38F6AAE1A29B}" type="datetimeFigureOut">
              <a:rPr lang="en-IN" smtClean="0"/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51E9-A03F-48F9-B76A-EEAF29EDA3C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822960" y="484094"/>
            <a:ext cx="10543032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BA5FDC8-2CCB-4EA1-8FD8-38F6AAE1A29B}" type="datetimeFigureOut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BA851E9-A03F-48F9-B76A-EEAF29EDA3CF}" type="slidenum">
              <a:rPr lang="en-IN" smtClean="0"/>
            </a:fld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59264" y="42335"/>
            <a:ext cx="11517039" cy="61722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/>
            </a:lvl1pPr>
            <a:lvl2pPr marL="228600" indent="0">
              <a:lnSpc>
                <a:spcPct val="90000"/>
              </a:lnSpc>
              <a:buNone/>
              <a:defRPr sz="7200" b="1"/>
            </a:lvl2pPr>
            <a:lvl3pPr marL="457200" indent="0">
              <a:lnSpc>
                <a:spcPct val="90000"/>
              </a:lnSpc>
              <a:buNone/>
              <a:defRPr sz="66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5400" b="1"/>
            </a:lvl5pPr>
          </a:lstStyle>
          <a:p>
            <a:pPr lvl="0"/>
            <a:r>
              <a:rPr lang="en-US" dirty="0"/>
              <a:t>Click to edit Statement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5FDC8-2CCB-4EA1-8FD8-38F6AAE1A29B}" type="datetimeFigureOut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51E9-A03F-48F9-B76A-EEAF29EDA3CF}" type="slidenum">
              <a:rPr lang="en-IN" smtClean="0"/>
            </a:fld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99616" y="5029200"/>
            <a:ext cx="9198864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332480"/>
          </a:xfrm>
        </p:spPr>
        <p:txBody>
          <a:bodyPr anchor="ctr">
            <a:normAutofit/>
          </a:bodyPr>
          <a:lstStyle>
            <a:lvl1pPr marL="164465" indent="-164465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5FDC8-2CCB-4EA1-8FD8-38F6AAE1A29B}" type="datetimeFigureOut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51E9-A03F-48F9-B76A-EEAF29EDA3C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512064"/>
            <a:ext cx="10741152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6"/>
          </p:nvPr>
        </p:nvSpPr>
        <p:spPr>
          <a:xfrm>
            <a:off x="6278563" y="1825625"/>
            <a:ext cx="507523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5FDC8-2CCB-4EA1-8FD8-38F6AAE1A29B}" type="datetimeFigureOut">
              <a:rPr lang="en-IN" smtClean="0"/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51E9-A03F-48F9-B76A-EEAF29EDA3C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12064"/>
            <a:ext cx="10745788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5"/>
          </p:nvPr>
        </p:nvSpPr>
        <p:spPr>
          <a:xfrm>
            <a:off x="609600" y="2387600"/>
            <a:ext cx="5075238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80468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6"/>
          </p:nvPr>
        </p:nvSpPr>
        <p:spPr>
          <a:xfrm>
            <a:off x="6279832" y="2387600"/>
            <a:ext cx="5075556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5FDC8-2CCB-4EA1-8FD8-38F6AAE1A29B}" type="datetimeFigureOut">
              <a:rPr lang="en-IN" smtClean="0"/>
            </a:fld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51E9-A03F-48F9-B76A-EEAF29EDA3C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512064"/>
            <a:ext cx="10963656" cy="96926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5FDC8-2CCB-4EA1-8FD8-38F6AAE1A29B}" type="datetimeFigureOut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51E9-A03F-48F9-B76A-EEAF29EDA3C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5FDC8-2CCB-4EA1-8FD8-38F6AAE1A29B}" type="datetimeFigureOut">
              <a:rPr lang="en-IN" smtClean="0"/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51E9-A03F-48F9-B76A-EEAF29EDA3C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299" y="89808"/>
            <a:ext cx="11462003" cy="2514600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12775" y="3118757"/>
            <a:ext cx="10963528" cy="2620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5FDC8-2CCB-4EA1-8FD8-38F6AAE1A29B}" type="datetimeFigureOut">
              <a:rPr lang="en-IN" smtClean="0"/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51E9-A03F-48F9-B76A-EEAF29EDA3CF}" type="slidenum">
              <a:rPr lang="en-IN" smtClean="0"/>
            </a:fld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60800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5FDC8-2CCB-4EA1-8FD8-38F6AAE1A29B}" type="datetimeFigureOut">
              <a:rPr lang="en-IN" smtClean="0"/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51E9-A03F-48F9-B76A-EEAF29EDA3CF}" type="slidenum">
              <a:rPr lang="en-IN" smtClean="0"/>
            </a:fld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8" Type="http://schemas.openxmlformats.org/officeDocument/2006/relationships/theme" Target="../theme/theme1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2648" y="514649"/>
            <a:ext cx="10963655" cy="972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2647" y="1709862"/>
            <a:ext cx="10963656" cy="4513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FBA5FDC8-2CCB-4EA1-8FD8-38F6AAE1A29B}" type="datetimeFigureOut">
              <a:rPr lang="en-IN" smtClean="0"/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9BA851E9-A03F-48F9-B76A-EEAF29EDA3CF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08703" y="1868554"/>
            <a:ext cx="9480042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VIDEO SURVEILLANCE</a:t>
            </a:r>
            <a:endParaRPr lang="en-US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组合"/>
          <p:cNvGrpSpPr/>
          <p:nvPr/>
        </p:nvGrpSpPr>
        <p:grpSpPr>
          <a:xfrm>
            <a:off x="0" y="-47225"/>
            <a:ext cx="12192000" cy="1481965"/>
            <a:chOff x="0" y="0"/>
            <a:chExt cx="12192000" cy="1481965"/>
          </a:xfrm>
        </p:grpSpPr>
        <p:sp>
          <p:nvSpPr>
            <p:cNvPr id="7" name="矩形"/>
            <p:cNvSpPr/>
            <p:nvPr/>
          </p:nvSpPr>
          <p:spPr>
            <a:xfrm>
              <a:off x="1708703" y="386589"/>
              <a:ext cx="8953501" cy="1095376"/>
            </a:xfrm>
            <a:prstGeom prst="rect">
              <a:avLst/>
            </a:prstGeom>
            <a:solidFill>
              <a:srgbClr val="FFFFFF"/>
            </a:solidFill>
            <a:ln w="12700" cap="flat" cmpd="sng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8" name="图片" descr="image3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12192000" cy="1353312"/>
            </a:xfrm>
            <a:prstGeom prst="rect">
              <a:avLst/>
            </a:prstGeom>
            <a:noFill/>
            <a:ln w="12700" cap="flat" cmpd="sng">
              <a:noFill/>
              <a:prstDash val="solid"/>
              <a:miter/>
            </a:ln>
          </p:spPr>
        </p:pic>
      </p:grpSp>
      <p:sp>
        <p:nvSpPr>
          <p:cNvPr id="10" name="TextBox 9"/>
          <p:cNvSpPr txBox="1"/>
          <p:nvPr/>
        </p:nvSpPr>
        <p:spPr>
          <a:xfrm>
            <a:off x="3632454" y="3455472"/>
            <a:ext cx="6094476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ITA0511-COMPUTER VISION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6885" y="5215651"/>
            <a:ext cx="201803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P MURALI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80397" y="4846320"/>
            <a:ext cx="3105785" cy="15684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Dharani S [192472364]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Deepthi K [192525343]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pavithra Y [192422182]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" descr="Picture 1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28016" y="38482"/>
            <a:ext cx="1097280" cy="115214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pic>
        <p:nvPicPr>
          <p:cNvPr id="5" name="图片" descr="Pictur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730485" y="19241"/>
            <a:ext cx="1333499" cy="1190626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7" name="TextBox 6"/>
          <p:cNvSpPr txBox="1"/>
          <p:nvPr/>
        </p:nvSpPr>
        <p:spPr>
          <a:xfrm>
            <a:off x="1225550" y="175260"/>
            <a:ext cx="9505315" cy="1600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54405" y="1477645"/>
            <a:ext cx="9506585" cy="38995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indent="0">
              <a:buFont typeface="Wingdings" panose="05000000000000000000" pitchFamily="2" charset="2"/>
              <a:buNone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Automated Video Surveillance?</a:t>
            </a:r>
            <a:endParaRPr lang="en-US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Wingdings" panose="05000000000000000000" pitchFamily="2" charset="2"/>
              <a:buChar char="§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Video Surveillance is an intelligent security system that uses cameras, Computer Vision, Artificial Intelligence, and Machine Learning to automatically monitor and analyze video footage.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Wingdings" panose="05000000000000000000" pitchFamily="2" charset="2"/>
              <a:buChar char="§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surveillance requires security personnel to continuously observe multiple camera feeds. This can result in human fatigue, missed events, and delayed responses.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Wingdings" panose="05000000000000000000" pitchFamily="2" charset="2"/>
              <a:buChar char="§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surveillance processes video streams continuously and identifies important events without requiring constant human observation.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" descr="Picture 1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28016" y="38482"/>
            <a:ext cx="1097280" cy="115214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pic>
        <p:nvPicPr>
          <p:cNvPr id="5" name="图片" descr="Pictur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730485" y="19241"/>
            <a:ext cx="1333499" cy="1190626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4" name="TextBox 3"/>
          <p:cNvSpPr txBox="1"/>
          <p:nvPr/>
        </p:nvSpPr>
        <p:spPr>
          <a:xfrm>
            <a:off x="1283335" y="131445"/>
            <a:ext cx="9757410" cy="16440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25550" y="1850390"/>
            <a:ext cx="9815195" cy="42964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people, vehicles, animals, and other relevant objects from video streams.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the movement of detected objects across consecutive frames.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normal and abnormal human activities.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analyze live video without requiring constant human supervision.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events such as unauthorized entry, intrusion, violence, accidents, or abandoned objects.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notifications when a potentially dangerous or suspicious event is detected.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relevant video frames or clips for later investigatio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n.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" descr="Picture 1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12787" y="38482"/>
            <a:ext cx="1112509" cy="116813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pic>
        <p:nvPicPr>
          <p:cNvPr id="5" name="图片" descr="Pictur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711979" y="19241"/>
            <a:ext cx="1352006" cy="12071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4" name="TextBox 3"/>
          <p:cNvSpPr txBox="1"/>
          <p:nvPr/>
        </p:nvSpPr>
        <p:spPr>
          <a:xfrm>
            <a:off x="4093210" y="901065"/>
            <a:ext cx="4157345" cy="16903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rtl="0">
              <a:buNone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Processing Pipeline</a:t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7220" y="1537335"/>
            <a:ext cx="11897995" cy="145503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Video Input</a:t>
            </a:r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receives continuous video from CCTV/IP cameras.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Frame Extraction</a:t>
            </a:r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video is divided into individual frames for processing.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Pre-processing</a:t>
            </a:r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Frames are improved using techniques such as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reduction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Resizing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Brightness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adjustment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enhancement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Object Detection</a:t>
            </a:r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algorithms locate objects and draw bounding boxes around them.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 Object Tracking</a:t>
            </a:r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assigns an identity to detected objects and follows their movement.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6: Feature Extraction</a:t>
            </a:r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visual features such as: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Motion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Appearance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extracted.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7: Activity Analysis</a:t>
            </a:r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determines whether the observed activity is normal or abnormal.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8: Alert Generation</a:t>
            </a:r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suspicious behavior is detected, an alert is generated.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 detected → Enters restricted area → Activity analyzed → Unauthorized entry detected → Alert generated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483360" y="196850"/>
            <a:ext cx="9228455" cy="5956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" descr="Picture 1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28016" y="38482"/>
            <a:ext cx="1097280" cy="115214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pic>
        <p:nvPicPr>
          <p:cNvPr id="5" name="图片" descr="Pictur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730485" y="19241"/>
            <a:ext cx="1333499" cy="1190626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4" name="TextBox 3"/>
          <p:cNvSpPr txBox="1"/>
          <p:nvPr/>
        </p:nvSpPr>
        <p:spPr>
          <a:xfrm>
            <a:off x="1224280" y="158750"/>
            <a:ext cx="9505950" cy="6794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917950" y="838835"/>
            <a:ext cx="6303010" cy="13119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Detection Techniques</a:t>
            </a: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/>
          <p:cNvGraphicFramePr/>
          <p:nvPr/>
        </p:nvGraphicFramePr>
        <p:xfrm>
          <a:off x="1059180" y="1725930"/>
          <a:ext cx="10279380" cy="3537585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2569845"/>
                <a:gridCol w="2569845"/>
                <a:gridCol w="2569845"/>
                <a:gridCol w="2569845"/>
              </a:tblGrid>
              <a:tr h="586105"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Speed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Suitable for Real-Time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586105"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Viola–Jones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solidFill>
                      <a:schemeClr val="accent4">
                        <a:lumMod val="75000"/>
                      </a:schemeClr>
                    </a:solidFill>
                  </a:tcPr>
                </a:tc>
              </a:tr>
              <a:tr h="607060"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HOG + SVM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solidFill>
                      <a:schemeClr val="accent4">
                        <a:lumMod val="75000"/>
                      </a:schemeClr>
                    </a:solidFill>
                  </a:tcPr>
                </a:tc>
              </a:tr>
              <a:tr h="586105"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Faster R-CNN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Low–Moderate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solidFill>
                      <a:schemeClr val="accent4">
                        <a:lumMod val="75000"/>
                      </a:schemeClr>
                    </a:solidFill>
                  </a:tcPr>
                </a:tc>
              </a:tr>
              <a:tr h="586105"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SSD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solidFill>
                      <a:schemeClr val="accent4">
                        <a:lumMod val="75000"/>
                      </a:schemeClr>
                    </a:solidFill>
                  </a:tcPr>
                </a:tc>
              </a:tr>
              <a:tr h="586105"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High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Excellent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solidFill>
                      <a:schemeClr val="accent4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" descr="Picture 1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28016" y="38482"/>
            <a:ext cx="1097280" cy="115214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pic>
        <p:nvPicPr>
          <p:cNvPr id="5" name="图片" descr="Pictur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730485" y="19241"/>
            <a:ext cx="1333499" cy="1190626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4" name="TextBox 3"/>
          <p:cNvSpPr txBox="1"/>
          <p:nvPr/>
        </p:nvSpPr>
        <p:spPr>
          <a:xfrm>
            <a:off x="1364615" y="260350"/>
            <a:ext cx="8752840" cy="19024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I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</a:t>
            </a:r>
            <a:endParaRPr lang="en-US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Tracking and Activity Recognition</a:t>
            </a:r>
            <a:endParaRPr lang="en-US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48920" y="1410970"/>
            <a:ext cx="10626725" cy="482600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50000"/>
              </a:lnSpc>
              <a:spcAft>
                <a:spcPct val="60000"/>
              </a:spcAft>
            </a:pPr>
            <a:r>
              <a:rPr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Object Tracking</a:t>
            </a:r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After detecting an object, the system must determine its movement between frames.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ct val="60000"/>
              </a:spcAft>
            </a:pPr>
            <a:r>
              <a:rPr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Common Tracking Techniques</a:t>
            </a:r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Kalman Filter</a:t>
            </a: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Predicts object position. Useful for smooth motion tracking. 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SORT</a:t>
            </a: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Combines object detection with Kalman filtering and data association. 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Deep SORT</a:t>
            </a: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Extends SORT using appearance features. Helps maintain object identity when multiple objects are present. 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ct val="60000"/>
              </a:spcAft>
            </a:pPr>
            <a:r>
              <a:rPr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Activity Recognition</a:t>
            </a: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Activity recognition determines what a person or object is doing.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If a person enters a restricted zone and remains there for a specified period, the system can classify the event as potential unauthorized access.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" descr="Picture 1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28016" y="38482"/>
            <a:ext cx="1097280" cy="115214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pic>
        <p:nvPicPr>
          <p:cNvPr id="5" name="图片" descr="Pictur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730485" y="19241"/>
            <a:ext cx="1333499" cy="1190626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4" name="TextBox 3"/>
          <p:cNvSpPr txBox="1"/>
          <p:nvPr/>
        </p:nvSpPr>
        <p:spPr>
          <a:xfrm>
            <a:off x="1351915" y="220345"/>
            <a:ext cx="9627870" cy="16637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8480" y="1543685"/>
            <a:ext cx="10940415" cy="65766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Video Surveillance combines Computer Vision, Machine Learning, Deep Learning, and real-time video processing to create intelligent security systems.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§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simply recording video, modern systems can: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§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objects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movement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activities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abnormal events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alerts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 security personnel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§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makes automated surveillance an important application of Computer Vision in smart cities, transportation, industries, institutions, and public safety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80439" y="2644170"/>
            <a:ext cx="363112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9600" dirty="0">
                <a:latin typeface="Bodoni MT Poster Compressed" panose="02070706080601050204" pitchFamily="18" charset="0"/>
              </a:rPr>
              <a:t>THANK YOU</a:t>
            </a:r>
            <a:endParaRPr lang="en-IN" sz="9600" dirty="0">
              <a:latin typeface="Bodoni MT Poster Compressed" panose="020707060806010502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0</TotalTime>
  <Words>3552</Words>
  <Application>WPS Presentation</Application>
  <PresentationFormat>Widescreen</PresentationFormat>
  <Paragraphs>134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SimSun</vt:lpstr>
      <vt:lpstr>Wingdings</vt:lpstr>
      <vt:lpstr>Times New Roman</vt:lpstr>
      <vt:lpstr>Bodoni MT Poster Compressed</vt:lpstr>
      <vt:lpstr>Neue Haas Grotesk Text Pro</vt:lpstr>
      <vt:lpstr>Segoe Print</vt:lpstr>
      <vt:lpstr>Microsoft YaHei</vt:lpstr>
      <vt:lpstr>Arial Unicode MS</vt:lpstr>
      <vt:lpstr>Calibri</vt:lpstr>
      <vt:lpstr>Helena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Rohith Penujuri</dc:creator>
  <cp:lastModifiedBy>SALADHI DHARANI</cp:lastModifiedBy>
  <cp:revision>8</cp:revision>
  <dcterms:created xsi:type="dcterms:W3CDTF">2026-08-17T16:27:00Z</dcterms:created>
  <dcterms:modified xsi:type="dcterms:W3CDTF">2026-08-24T08:27:04Z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31D88D5197674E6BB2EEEAC663424CB2_13</vt:lpwstr>
  </property>
</Properties>
</file>